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Lato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8" d="100"/>
          <a:sy n="28" d="100"/>
        </p:scale>
        <p:origin x="178" y="2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hian santiago cardenas morales" userId="859406fae842f000" providerId="LiveId" clId="{94C9DFF5-6629-46E6-AAC7-C27AED7DFDAF}"/>
    <pc:docChg chg="custSel modSld">
      <pc:chgData name="cristhian santiago cardenas morales" userId="859406fae842f000" providerId="LiveId" clId="{94C9DFF5-6629-46E6-AAC7-C27AED7DFDAF}" dt="2026-07-01T20:34:27.470" v="330" actId="1076"/>
      <pc:docMkLst>
        <pc:docMk/>
      </pc:docMkLst>
      <pc:sldChg chg="modSp mod">
        <pc:chgData name="cristhian santiago cardenas morales" userId="859406fae842f000" providerId="LiveId" clId="{94C9DFF5-6629-46E6-AAC7-C27AED7DFDAF}" dt="2026-07-01T20:09:04.779" v="327" actId="14100"/>
        <pc:sldMkLst>
          <pc:docMk/>
          <pc:sldMk cId="0" sldId="256"/>
        </pc:sldMkLst>
        <pc:spChg chg="mod">
          <ac:chgData name="cristhian santiago cardenas morales" userId="859406fae842f000" providerId="LiveId" clId="{94C9DFF5-6629-46E6-AAC7-C27AED7DFDAF}" dt="2026-07-01T20:08:31.355" v="325" actId="113"/>
          <ac:spMkLst>
            <pc:docMk/>
            <pc:sldMk cId="0" sldId="256"/>
            <ac:spMk id="14" creationId="{00000000-0000-0000-0000-000000000000}"/>
          </ac:spMkLst>
        </pc:spChg>
        <pc:spChg chg="mod">
          <ac:chgData name="cristhian santiago cardenas morales" userId="859406fae842f000" providerId="LiveId" clId="{94C9DFF5-6629-46E6-AAC7-C27AED7DFDAF}" dt="2026-07-01T20:09:04.779" v="327" actId="14100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cristhian santiago cardenas morales" userId="859406fae842f000" providerId="LiveId" clId="{94C9DFF5-6629-46E6-AAC7-C27AED7DFDAF}" dt="2026-07-01T20:26:44.769" v="328" actId="1076"/>
        <pc:sldMkLst>
          <pc:docMk/>
          <pc:sldMk cId="0" sldId="257"/>
        </pc:sldMkLst>
        <pc:spChg chg="mod">
          <ac:chgData name="cristhian santiago cardenas morales" userId="859406fae842f000" providerId="LiveId" clId="{94C9DFF5-6629-46E6-AAC7-C27AED7DFDAF}" dt="2026-07-01T20:26:44.769" v="328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cristhian santiago cardenas morales" userId="859406fae842f000" providerId="LiveId" clId="{94C9DFF5-6629-46E6-AAC7-C27AED7DFDAF}" dt="2026-07-01T19:53:12.490" v="0" actId="255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cristhian santiago cardenas morales" userId="859406fae842f000" providerId="LiveId" clId="{94C9DFF5-6629-46E6-AAC7-C27AED7DFDAF}" dt="2026-07-01T20:29:35.586" v="329" actId="1076"/>
        <pc:sldMkLst>
          <pc:docMk/>
          <pc:sldMk cId="0" sldId="258"/>
        </pc:sldMkLst>
        <pc:spChg chg="mod">
          <ac:chgData name="cristhian santiago cardenas morales" userId="859406fae842f000" providerId="LiveId" clId="{94C9DFF5-6629-46E6-AAC7-C27AED7DFDAF}" dt="2026-07-01T20:29:35.586" v="329" actId="1076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cristhian santiago cardenas morales" userId="859406fae842f000" providerId="LiveId" clId="{94C9DFF5-6629-46E6-AAC7-C27AED7DFDAF}" dt="2026-07-01T20:34:27.470" v="330" actId="1076"/>
        <pc:sldMkLst>
          <pc:docMk/>
          <pc:sldMk cId="0" sldId="259"/>
        </pc:sldMkLst>
        <pc:spChg chg="mod">
          <ac:chgData name="cristhian santiago cardenas morales" userId="859406fae842f000" providerId="LiveId" clId="{94C9DFF5-6629-46E6-AAC7-C27AED7DFDAF}" dt="2026-07-01T20:06:18.380" v="3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risthian santiago cardenas morales" userId="859406fae842f000" providerId="LiveId" clId="{94C9DFF5-6629-46E6-AAC7-C27AED7DFDAF}" dt="2026-07-01T20:34:27.470" v="330" actId="1076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cristhian santiago cardenas morales" userId="859406fae842f000" providerId="LiveId" clId="{94C9DFF5-6629-46E6-AAC7-C27AED7DFDAF}" dt="2026-07-01T19:54:14.786" v="2" actId="1076"/>
        <pc:sldMkLst>
          <pc:docMk/>
          <pc:sldMk cId="0" sldId="262"/>
        </pc:sldMkLst>
        <pc:spChg chg="mod">
          <ac:chgData name="cristhian santiago cardenas morales" userId="859406fae842f000" providerId="LiveId" clId="{94C9DFF5-6629-46E6-AAC7-C27AED7DFDAF}" dt="2026-07-01T19:54:14.786" v="2" actId="1076"/>
          <ac:spMkLst>
            <pc:docMk/>
            <pc:sldMk cId="0" sldId="262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 flipV="1">
            <a:off x="12243312" y="7728224"/>
            <a:ext cx="8123999" cy="6705992"/>
          </a:xfrm>
          <a:custGeom>
            <a:avLst/>
            <a:gdLst/>
            <a:ahLst/>
            <a:cxnLst/>
            <a:rect l="l" t="t" r="r" b="b"/>
            <a:pathLst>
              <a:path w="8123999" h="6705992">
                <a:moveTo>
                  <a:pt x="8123999" y="6705992"/>
                </a:moveTo>
                <a:lnTo>
                  <a:pt x="0" y="6705992"/>
                </a:lnTo>
                <a:lnTo>
                  <a:pt x="0" y="0"/>
                </a:lnTo>
                <a:lnTo>
                  <a:pt x="8123999" y="0"/>
                </a:lnTo>
                <a:lnTo>
                  <a:pt x="8123999" y="670599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Freeform 12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2249197" y="3670141"/>
            <a:ext cx="13789606" cy="1477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48"/>
              </a:lnSpc>
            </a:pPr>
            <a:r>
              <a:rPr lang="en-US" sz="4248" b="1" dirty="0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CIBERSEGURIDAD Y LA IMPORTANCIA DE LA PROGRAMACIÓN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34888" y="5742387"/>
            <a:ext cx="9818224" cy="145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6"/>
              </a:lnSpc>
            </a:pPr>
            <a:r>
              <a:rPr lang="en-US" sz="1654" b="1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Autor: Cristhian Santiago Cardenas Morales</a:t>
            </a:r>
          </a:p>
          <a:p>
            <a:pPr marL="0" lvl="0" indent="0" algn="ctr">
              <a:lnSpc>
                <a:spcPts val="2316"/>
              </a:lnSpc>
            </a:pPr>
            <a:endParaRPr lang="en-US" sz="1654" b="1" dirty="0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ctr">
              <a:lnSpc>
                <a:spcPts val="2316"/>
              </a:lnSpc>
            </a:pPr>
            <a:r>
              <a:rPr lang="en-US" sz="1654" b="1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Analisis y Desarrollo de software</a:t>
            </a:r>
          </a:p>
          <a:p>
            <a:pPr marL="0" lvl="0" indent="0" algn="ctr">
              <a:lnSpc>
                <a:spcPts val="2316"/>
              </a:lnSpc>
            </a:pPr>
            <a:endParaRPr lang="en-US" sz="1654" b="1" dirty="0">
              <a:solidFill>
                <a:srgbClr val="140C0C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ctr">
              <a:lnSpc>
                <a:spcPts val="2316"/>
              </a:lnSpc>
            </a:pPr>
            <a:r>
              <a:rPr lang="en-US" sz="1654" b="1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01/07/2026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1" y="190500"/>
            <a:ext cx="3200400" cy="14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28"/>
              </a:lnSpc>
            </a:pPr>
            <a:r>
              <a:rPr lang="en-US" sz="1200" b="1" spc="-38" dirty="0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[NOMBRE DE LA UNIVERSIDAD]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TextBox 12"/>
          <p:cNvSpPr txBox="1"/>
          <p:nvPr/>
        </p:nvSpPr>
        <p:spPr>
          <a:xfrm>
            <a:off x="1875868" y="1541523"/>
            <a:ext cx="9483250" cy="435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8"/>
              </a:lnSpc>
            </a:pPr>
            <a:r>
              <a:rPr lang="en-US" sz="2556" b="1" dirty="0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INTRODUCCIÓN A LA CIBERSEGURIDAD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05104" y="4080325"/>
            <a:ext cx="12277792" cy="206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1"/>
              </a:lnSpc>
            </a:pP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La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ciberseguridad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se define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como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protección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sistemas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, redes y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datos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contra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ataques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digitales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accesos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no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autorizados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daños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(Stallings, 2020). En un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mundo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cada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vez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más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digitalizado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, la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seguridad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la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información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se ha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convertido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una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prioridad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global. La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creciente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dependencia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tecnologías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digitales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expone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individuos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empresas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e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instituciones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amenazas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sofisticadas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que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evolucionan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constantemente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. La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digitalización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acelerada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la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interconexión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global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han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amplificado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superficie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ataque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haciendo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indispensable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el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desarrollo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estrategias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robustas de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protección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respuesta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ante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incidentes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spc="-45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cibernéticos</a:t>
            </a:r>
            <a:r>
              <a:rPr lang="en-US" sz="2400" spc="-45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1942" y="9111014"/>
            <a:ext cx="1237358" cy="7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95"/>
              </a:lnSpc>
            </a:pPr>
            <a:r>
              <a:rPr lang="en-US" sz="1496" b="1" dirty="0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02</a:t>
            </a:r>
          </a:p>
          <a:p>
            <a:pPr marL="0" lvl="0" indent="0" algn="ctr">
              <a:lnSpc>
                <a:spcPts val="2095"/>
              </a:lnSpc>
            </a:pPr>
            <a:r>
              <a:rPr lang="en-US" sz="1496" b="1" dirty="0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(STALLINGS, 2020)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6" name="AutoShape 16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Box 17"/>
          <p:cNvSpPr txBox="1"/>
          <p:nvPr/>
        </p:nvSpPr>
        <p:spPr>
          <a:xfrm>
            <a:off x="1028700" y="675260"/>
            <a:ext cx="3904601" cy="153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8"/>
              </a:lnSpc>
            </a:pPr>
            <a:r>
              <a:rPr lang="en-US" sz="1200" b="1" spc="-38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FAUGET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34814"/>
            <a:ext cx="1237358" cy="88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55"/>
              </a:lnSpc>
            </a:pPr>
            <a:r>
              <a:rPr lang="en-US" sz="5111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03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4" name="AutoShape 14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1028700" y="599651"/>
            <a:ext cx="3904601" cy="33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0"/>
              </a:lnSpc>
            </a:pPr>
            <a:r>
              <a:rPr lang="en-US" sz="2606" b="1" spc="-83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FAUGET UNIVERSITY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40686" y="1765357"/>
            <a:ext cx="6779304" cy="119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58"/>
              </a:lnSpc>
            </a:pPr>
            <a:r>
              <a:rPr lang="en-US" sz="3470" b="1" dirty="0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AMENAZAS Y VULNERABILIDADES COMUNES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1873" y="4042225"/>
            <a:ext cx="7151593" cy="3789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0"/>
              </a:lnSpc>
            </a:pP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Malware: virus, ransomware y spyware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diseñados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dañar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o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infiltrar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sistemas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sin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autorización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del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usuario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(Kim, 2019).</a:t>
            </a:r>
          </a:p>
          <a:p>
            <a:pPr marL="0" lvl="0" indent="0" algn="l">
              <a:lnSpc>
                <a:spcPts val="4300"/>
              </a:lnSpc>
            </a:pP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Phishing y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ataques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ingeniería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social: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manipulación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psicológica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obtener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información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confidencial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(Hadnagy, 2018).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74534" y="4042225"/>
            <a:ext cx="7151593" cy="4332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00"/>
              </a:lnSpc>
            </a:pP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Vulnerabilidades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software y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errores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humanos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fallos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el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código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descuidos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que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exponen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los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sistemas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(Anderson, 2021).</a:t>
            </a:r>
          </a:p>
          <a:p>
            <a:pPr marL="0" lvl="0" indent="0" algn="l">
              <a:lnSpc>
                <a:spcPts val="4300"/>
              </a:lnSpc>
            </a:pP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Denegación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servicio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(DoS) y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ataques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red: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saturación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recursos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interrumpir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71" spc="-98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servicios</a:t>
            </a:r>
            <a:r>
              <a:rPr lang="en-US" sz="3071" spc="-98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(Mirkovic &amp; Reiher, 2020).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TextBox 12"/>
          <p:cNvSpPr txBox="1"/>
          <p:nvPr/>
        </p:nvSpPr>
        <p:spPr>
          <a:xfrm>
            <a:off x="4537520" y="1458460"/>
            <a:ext cx="9483250" cy="140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6"/>
              </a:lnSpc>
            </a:pPr>
            <a:r>
              <a:rPr lang="en-US" sz="4019" b="1" dirty="0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IMPORTANCIA DE LA PROGRAMACIÓN EN LA CIBERSEGURIDAD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6138" y="4477636"/>
            <a:ext cx="12277792" cy="5040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8"/>
              </a:lnSpc>
            </a:pP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Desarrollo de software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seguro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detección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vulnerabilidades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: La </a:t>
            </a:r>
            <a:r>
              <a:rPr lang="en-US" sz="3120" spc="-99" dirty="0">
                <a:solidFill>
                  <a:srgbClr val="140C0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programación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permite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identificar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corregir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fallos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antes de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que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sean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explotados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(McGraw, 2019).</a:t>
            </a:r>
          </a:p>
          <a:p>
            <a:pPr marL="0" lvl="0" indent="0" algn="l">
              <a:lnSpc>
                <a:spcPts val="4368"/>
              </a:lnSpc>
            </a:pP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Automatización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análisis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respuesta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incidentes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: Los scripts y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herramientas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programadas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agilizan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detección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contención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amenazas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tiempo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real (Scarfone &amp; Mell, 2020).</a:t>
            </a:r>
          </a:p>
          <a:p>
            <a:pPr marL="0" lvl="0" indent="0" algn="l">
              <a:lnSpc>
                <a:spcPts val="4368"/>
              </a:lnSpc>
            </a:pP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Personalización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herramientas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soluciones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seguridad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Permite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adaptar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sistemas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protección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a las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necesidades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específicas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cada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organización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(Kim &amp; Solomon, 2021).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1942" y="9034814"/>
            <a:ext cx="1237358" cy="88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55"/>
              </a:lnSpc>
            </a:pPr>
            <a:r>
              <a:rPr lang="en-US" sz="5111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04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 dirty="0"/>
          </a:p>
        </p:txBody>
      </p:sp>
      <p:sp>
        <p:nvSpPr>
          <p:cNvPr id="16" name="AutoShape 16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Box 17"/>
          <p:cNvSpPr txBox="1"/>
          <p:nvPr/>
        </p:nvSpPr>
        <p:spPr>
          <a:xfrm>
            <a:off x="1028700" y="599651"/>
            <a:ext cx="3904601" cy="33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0"/>
              </a:lnSpc>
            </a:pPr>
            <a:r>
              <a:rPr lang="en-US" sz="2606" b="1" spc="-83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FAUGET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AutoShape 12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16021942" y="9034814"/>
            <a:ext cx="1237358" cy="88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55"/>
              </a:lnSpc>
            </a:pPr>
            <a:r>
              <a:rPr lang="en-US" sz="5111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99651"/>
            <a:ext cx="3904601" cy="33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0"/>
              </a:lnSpc>
            </a:pPr>
            <a:r>
              <a:rPr lang="en-US" sz="2606" b="1" spc="-83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FAUGET UNIVERSITY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2834" y="1275410"/>
            <a:ext cx="9317939" cy="214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2"/>
              </a:lnSpc>
            </a:pPr>
            <a:r>
              <a:rPr lang="en-US" sz="7859" b="1" dirty="0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LENGUAJES DE PROGRAMACIÓN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0807" y="4323742"/>
            <a:ext cx="4611975" cy="409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17"/>
              </a:lnSpc>
            </a:pP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Python: Lenguaje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versátil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para scripting,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análisis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datos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automatización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tareas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seguridad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Ampliamente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usado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pruebas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penetración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análisis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malware.</a:t>
            </a:r>
          </a:p>
          <a:p>
            <a:pPr marL="0" lvl="0" indent="0" algn="ctr">
              <a:lnSpc>
                <a:spcPts val="4117"/>
              </a:lnSpc>
            </a:pP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(Lutz, 2013)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726473" y="2670727"/>
            <a:ext cx="1340644" cy="1340644"/>
            <a:chOff x="0" y="0"/>
            <a:chExt cx="4064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38595" y="0"/>
                  </a:moveTo>
                  <a:lnTo>
                    <a:pt x="267805" y="0"/>
                  </a:lnTo>
                  <a:cubicBezTo>
                    <a:pt x="304563" y="0"/>
                    <a:pt x="339815" y="14602"/>
                    <a:pt x="365807" y="40593"/>
                  </a:cubicBezTo>
                  <a:cubicBezTo>
                    <a:pt x="391798" y="66585"/>
                    <a:pt x="406400" y="101837"/>
                    <a:pt x="406400" y="138595"/>
                  </a:cubicBezTo>
                  <a:lnTo>
                    <a:pt x="406400" y="267805"/>
                  </a:lnTo>
                  <a:cubicBezTo>
                    <a:pt x="406400" y="304563"/>
                    <a:pt x="391798" y="339815"/>
                    <a:pt x="365807" y="365807"/>
                  </a:cubicBezTo>
                  <a:cubicBezTo>
                    <a:pt x="339815" y="391798"/>
                    <a:pt x="304563" y="406400"/>
                    <a:pt x="267805" y="406400"/>
                  </a:cubicBezTo>
                  <a:lnTo>
                    <a:pt x="138595" y="406400"/>
                  </a:lnTo>
                  <a:cubicBezTo>
                    <a:pt x="101837" y="406400"/>
                    <a:pt x="66585" y="391798"/>
                    <a:pt x="40593" y="365807"/>
                  </a:cubicBezTo>
                  <a:cubicBezTo>
                    <a:pt x="14602" y="339815"/>
                    <a:pt x="0" y="304563"/>
                    <a:pt x="0" y="267805"/>
                  </a:cubicBezTo>
                  <a:lnTo>
                    <a:pt x="0" y="138595"/>
                  </a:lnTo>
                  <a:cubicBezTo>
                    <a:pt x="0" y="101837"/>
                    <a:pt x="14602" y="66585"/>
                    <a:pt x="40593" y="40593"/>
                  </a:cubicBezTo>
                  <a:cubicBezTo>
                    <a:pt x="66585" y="14602"/>
                    <a:pt x="101837" y="0"/>
                    <a:pt x="138595" y="0"/>
                  </a:cubicBezTo>
                  <a:close/>
                </a:path>
              </a:pathLst>
            </a:custGeom>
            <a:solidFill>
              <a:srgbClr val="7E695C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786612" y="2868731"/>
            <a:ext cx="1220366" cy="104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62"/>
              </a:lnSpc>
            </a:pPr>
            <a:r>
              <a:rPr lang="en-US" sz="7583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35037" y="4323742"/>
            <a:ext cx="4611975" cy="409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17"/>
              </a:lnSpc>
            </a:pP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C++: Desarrollo de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sistemas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software de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seguridad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alto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rendimiento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. Java: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Aplicaciones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seguras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herramientas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40" spc="-94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empresariales</a:t>
            </a: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robustas.</a:t>
            </a:r>
          </a:p>
          <a:p>
            <a:pPr marL="0" lvl="0" indent="0" algn="ctr">
              <a:lnSpc>
                <a:spcPts val="4117"/>
              </a:lnSpc>
            </a:pPr>
            <a:r>
              <a:rPr lang="en-US" sz="2940" spc="-94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(Stroustrup, 2013; Bloch, 2018)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870702" y="2670727"/>
            <a:ext cx="1340644" cy="1340644"/>
            <a:chOff x="0" y="0"/>
            <a:chExt cx="406400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38595" y="0"/>
                  </a:moveTo>
                  <a:lnTo>
                    <a:pt x="267805" y="0"/>
                  </a:lnTo>
                  <a:cubicBezTo>
                    <a:pt x="304563" y="0"/>
                    <a:pt x="339815" y="14602"/>
                    <a:pt x="365807" y="40593"/>
                  </a:cubicBezTo>
                  <a:cubicBezTo>
                    <a:pt x="391798" y="66585"/>
                    <a:pt x="406400" y="101837"/>
                    <a:pt x="406400" y="138595"/>
                  </a:cubicBezTo>
                  <a:lnTo>
                    <a:pt x="406400" y="267805"/>
                  </a:lnTo>
                  <a:cubicBezTo>
                    <a:pt x="406400" y="304563"/>
                    <a:pt x="391798" y="339815"/>
                    <a:pt x="365807" y="365807"/>
                  </a:cubicBezTo>
                  <a:cubicBezTo>
                    <a:pt x="339815" y="391798"/>
                    <a:pt x="304563" y="406400"/>
                    <a:pt x="267805" y="406400"/>
                  </a:cubicBezTo>
                  <a:lnTo>
                    <a:pt x="138595" y="406400"/>
                  </a:lnTo>
                  <a:cubicBezTo>
                    <a:pt x="101837" y="406400"/>
                    <a:pt x="66585" y="391798"/>
                    <a:pt x="40593" y="365807"/>
                  </a:cubicBezTo>
                  <a:cubicBezTo>
                    <a:pt x="14602" y="339815"/>
                    <a:pt x="0" y="304563"/>
                    <a:pt x="0" y="267805"/>
                  </a:cubicBezTo>
                  <a:lnTo>
                    <a:pt x="0" y="138595"/>
                  </a:lnTo>
                  <a:cubicBezTo>
                    <a:pt x="0" y="101837"/>
                    <a:pt x="14602" y="66585"/>
                    <a:pt x="40593" y="40593"/>
                  </a:cubicBezTo>
                  <a:cubicBezTo>
                    <a:pt x="66585" y="14602"/>
                    <a:pt x="101837" y="0"/>
                    <a:pt x="138595" y="0"/>
                  </a:cubicBezTo>
                  <a:close/>
                </a:path>
              </a:pathLst>
            </a:custGeom>
            <a:solidFill>
              <a:srgbClr val="7E695C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930841" y="2868731"/>
            <a:ext cx="1220366" cy="104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62"/>
              </a:lnSpc>
            </a:pPr>
            <a:r>
              <a:rPr lang="en-US" sz="7583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34814"/>
            <a:ext cx="1237358" cy="88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55"/>
              </a:lnSpc>
            </a:pPr>
            <a:r>
              <a:rPr lang="en-US" sz="5111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06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4" name="AutoShape 14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1028700" y="599651"/>
            <a:ext cx="3904601" cy="33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0"/>
              </a:lnSpc>
            </a:pPr>
            <a:r>
              <a:rPr lang="en-US" sz="2606" b="1" spc="-83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FAUGET UNIVERSITY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61873" y="2304544"/>
            <a:ext cx="6779304" cy="713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18"/>
              </a:lnSpc>
            </a:pPr>
            <a:r>
              <a:rPr lang="en-US" sz="4156" b="1" dirty="0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APLICACIONES PRÁCTICAS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1873" y="4051750"/>
            <a:ext cx="7151593" cy="3798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6"/>
              </a:lnSpc>
            </a:pP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Creación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antivirus y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sistemas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detección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intrusiones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mediante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programación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orientada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objetos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análisis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heurístico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(Smith, 2022).</a:t>
            </a:r>
          </a:p>
          <a:p>
            <a:pPr marL="0" lvl="0" indent="0" algn="l">
              <a:lnSpc>
                <a:spcPts val="3796"/>
              </a:lnSpc>
            </a:pP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Desarrollo de scripts para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pruebas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penetración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pentesting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)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que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identifican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vulnerabilidades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sistemas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antes de ser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explotadas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(Jones, 2020).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74534" y="4051750"/>
            <a:ext cx="7151593" cy="3322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6"/>
              </a:lnSpc>
            </a:pP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Análisis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forense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digital y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recuperación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datos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uso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herramientas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programadas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rastrear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evidencia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digital y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reconstruir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incidentes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seguridad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(Casey, 2018).</a:t>
            </a:r>
          </a:p>
          <a:p>
            <a:pPr marL="0" lvl="0" indent="0" algn="l">
              <a:lnSpc>
                <a:spcPts val="3796"/>
              </a:lnSpc>
            </a:pP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La programación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permite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crear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soluciones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personalizadas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adaptadas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a las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necesidades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específicas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cada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entorno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seguridad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TextBox 12"/>
          <p:cNvSpPr txBox="1"/>
          <p:nvPr/>
        </p:nvSpPr>
        <p:spPr>
          <a:xfrm>
            <a:off x="16021942" y="9034814"/>
            <a:ext cx="1237358" cy="88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55"/>
              </a:lnSpc>
            </a:pPr>
            <a:r>
              <a:rPr lang="en-US" sz="5111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07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4" name="AutoShape 14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1028700" y="599651"/>
            <a:ext cx="3904601" cy="33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0"/>
              </a:lnSpc>
            </a:pPr>
            <a:r>
              <a:rPr lang="en-US" sz="2606" b="1" spc="-83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FAUGET UNIVERSITY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8230" y="1516315"/>
            <a:ext cx="6779304" cy="136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98"/>
              </a:lnSpc>
            </a:pPr>
            <a:r>
              <a:rPr lang="en-US" sz="3927" b="1" dirty="0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HERRAMIENTAS Y TÉCNICAS EN CIBERSEGURIDAD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1873" y="4051750"/>
            <a:ext cx="7151593" cy="3798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6"/>
              </a:lnSpc>
            </a:pP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Wireshark: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Herramienta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análisis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tráfico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red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que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permite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capturar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examinar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paquetes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tiempo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real para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detectar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anomalías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amenazas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(Combs, 2021).</a:t>
            </a:r>
          </a:p>
          <a:p>
            <a:pPr marL="0" lvl="0" indent="0" algn="l">
              <a:lnSpc>
                <a:spcPts val="3796"/>
              </a:lnSpc>
            </a:pP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Metasploit: Framework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ampliamente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utilizado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pruebas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penetración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permitiendo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identificar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explotar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vulnerabilidades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11" spc="-86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sistemas</a:t>
            </a:r>
            <a:r>
              <a:rPr lang="en-US" sz="2711" spc="-86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(Maynor, 2019).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74534" y="4051750"/>
            <a:ext cx="7151593" cy="3798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96"/>
              </a:lnSpc>
            </a:pPr>
            <a:r>
              <a:rPr lang="en-US" sz="2711" spc="-8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Técnicas de cifrado: Mecanismos criptográficos que protegen la confidencialidad e integridad de los datos transmitidos y almacenados (Stallings, 2020).</a:t>
            </a:r>
          </a:p>
          <a:p>
            <a:pPr marL="0" lvl="0" indent="0" algn="l">
              <a:lnSpc>
                <a:spcPts val="3796"/>
              </a:lnSpc>
            </a:pPr>
            <a:r>
              <a:rPr lang="en-US" sz="2711" spc="-86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Autenticación multifactor: Técnica que combina múltiples métodos de verificación para reforzar el acceso seguro a sistemas críticos (Stallings, 2020).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C6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731057">
            <a:off x="-4314825" y="8346840"/>
            <a:ext cx="10687050" cy="10004898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731057">
            <a:off x="13625742" y="-7244406"/>
            <a:ext cx="10687050" cy="10004898"/>
            <a:chOff x="0" y="0"/>
            <a:chExt cx="5969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A3989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639789" y="8687991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2085736" y="-1599009"/>
            <a:ext cx="3198019" cy="3198019"/>
          </a:xfrm>
          <a:custGeom>
            <a:avLst/>
            <a:gdLst/>
            <a:ahLst/>
            <a:cxnLst/>
            <a:rect l="l" t="t" r="r" b="b"/>
            <a:pathLst>
              <a:path w="3198019" h="3198019">
                <a:moveTo>
                  <a:pt x="0" y="0"/>
                </a:moveTo>
                <a:lnTo>
                  <a:pt x="3198019" y="0"/>
                </a:lnTo>
                <a:lnTo>
                  <a:pt x="3198019" y="3198018"/>
                </a:lnTo>
                <a:lnTo>
                  <a:pt x="0" y="3198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4224338" y="9918910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17259300" y="1476429"/>
            <a:ext cx="2546230" cy="1393482"/>
          </a:xfrm>
          <a:custGeom>
            <a:avLst/>
            <a:gdLst/>
            <a:ahLst/>
            <a:cxnLst/>
            <a:rect l="l" t="t" r="r" b="b"/>
            <a:pathLst>
              <a:path w="2546230" h="1393482">
                <a:moveTo>
                  <a:pt x="0" y="0"/>
                </a:moveTo>
                <a:lnTo>
                  <a:pt x="2546230" y="0"/>
                </a:lnTo>
                <a:lnTo>
                  <a:pt x="2546230" y="1393482"/>
                </a:lnTo>
                <a:lnTo>
                  <a:pt x="0" y="1393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TextBox 12"/>
          <p:cNvSpPr txBox="1"/>
          <p:nvPr/>
        </p:nvSpPr>
        <p:spPr>
          <a:xfrm>
            <a:off x="4402375" y="2218819"/>
            <a:ext cx="9483250" cy="1497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219"/>
              </a:lnSpc>
            </a:pPr>
            <a:r>
              <a:rPr lang="en-US" sz="8728" b="1" dirty="0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CONCLUSIONES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05104" y="4051750"/>
            <a:ext cx="12277792" cy="494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68"/>
              </a:lnSpc>
            </a:pP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La programación es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esencial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anticipar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mitigar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amenazas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cibernéticas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permitiendo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desarrollar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soluciones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preventivas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reactivas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0" lvl="0" indent="0" algn="ctr">
              <a:lnSpc>
                <a:spcPts val="4368"/>
              </a:lnSpc>
            </a:pP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Capacitarse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lenguajes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clave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como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Python, C++ y Java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mejora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significativamente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capacidad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defensa ante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ataques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digitales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0" lvl="0" indent="0" algn="ctr">
              <a:lnSpc>
                <a:spcPts val="4368"/>
              </a:lnSpc>
            </a:pP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• La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combinación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conocimientos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técnicos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prácticas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seguridad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fortalece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protección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digital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entornos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cada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vez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más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0" spc="-99" dirty="0" err="1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vulnerables</a:t>
            </a: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0" lvl="0" indent="0" algn="ctr">
              <a:lnSpc>
                <a:spcPts val="4368"/>
              </a:lnSpc>
            </a:pPr>
            <a:r>
              <a:rPr lang="en-US" sz="3120" spc="-99" dirty="0">
                <a:solidFill>
                  <a:srgbClr val="140C0C"/>
                </a:solidFill>
                <a:latin typeface="Canva Sans"/>
                <a:ea typeface="Canva Sans"/>
                <a:cs typeface="Canva Sans"/>
                <a:sym typeface="Canva Sans"/>
              </a:rPr>
              <a:t>(Anderson, 2021)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1942" y="9034814"/>
            <a:ext cx="1237358" cy="88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55"/>
              </a:lnSpc>
            </a:pPr>
            <a:r>
              <a:rPr lang="en-US" sz="5111" b="1">
                <a:solidFill>
                  <a:srgbClr val="140C0C"/>
                </a:solidFill>
                <a:latin typeface="Lato Bold"/>
                <a:ea typeface="Lato Bold"/>
                <a:cs typeface="Lato Bold"/>
                <a:sym typeface="Lato Bold"/>
              </a:rPr>
              <a:t>8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6993255" y="9549065"/>
            <a:ext cx="8683559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6" name="AutoShape 16"/>
          <p:cNvSpPr/>
          <p:nvPr/>
        </p:nvSpPr>
        <p:spPr>
          <a:xfrm flipV="1">
            <a:off x="4933301" y="737935"/>
            <a:ext cx="6799147" cy="0"/>
          </a:xfrm>
          <a:prstGeom prst="line">
            <a:avLst/>
          </a:prstGeom>
          <a:ln w="9525" cap="flat">
            <a:solidFill>
              <a:srgbClr val="A3989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Box 17"/>
          <p:cNvSpPr txBox="1"/>
          <p:nvPr/>
        </p:nvSpPr>
        <p:spPr>
          <a:xfrm>
            <a:off x="1028700" y="599651"/>
            <a:ext cx="3904601" cy="33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0"/>
              </a:lnSpc>
            </a:pPr>
            <a:r>
              <a:rPr lang="en-US" sz="2606" b="1" spc="-83">
                <a:solidFill>
                  <a:srgbClr val="140C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FAUGET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673</Words>
  <Application>Microsoft Office PowerPoint</Application>
  <PresentationFormat>Personalizado</PresentationFormat>
  <Paragraphs>55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Canva Sans</vt:lpstr>
      <vt:lpstr>Lato Bold</vt:lpstr>
      <vt:lpstr>Calibri</vt:lpstr>
      <vt:lpstr>Canva Sans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Ciberseguridad y Programación
</dc:title>
  <cp:lastModifiedBy>cristhian santiago cardenas morales</cp:lastModifiedBy>
  <cp:revision>1</cp:revision>
  <dcterms:created xsi:type="dcterms:W3CDTF">2006-08-16T00:00:00Z</dcterms:created>
  <dcterms:modified xsi:type="dcterms:W3CDTF">2026-07-01T20:52:35Z</dcterms:modified>
  <dc:identifier>DAHOK4n5Yik</dc:identifier>
</cp:coreProperties>
</file>